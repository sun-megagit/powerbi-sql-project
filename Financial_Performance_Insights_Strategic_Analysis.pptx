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562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">
            <a:off x="4572000" y="-514350"/>
            <a:ext cx="5486400" cy="61722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4375" y="1041592"/>
            <a:ext cx="42148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kern="0" spc="2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POWER BI ANALYSIS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4375" y="1339844"/>
            <a:ext cx="4214813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Performance Insights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14375" y="3020020"/>
            <a:ext cx="3571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Analysis of Global Sales and Profitability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943852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975" y="3928672"/>
            <a:ext cx="11894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Sunil Vadlakonda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07844" y="1143000"/>
            <a:ext cx="2857500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969" y="2143125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Summary: Data-Driven Growth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64456"/>
            <a:ext cx="1839516" cy="254736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85813" y="1650206"/>
            <a:ext cx="428625" cy="42862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3" y="1764506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293144"/>
            <a:ext cx="1410891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Strategic Objective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5813" y="2814638"/>
            <a:ext cx="1410891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Power BI to transform raw financial data into </a:t>
            </a: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actionable business intelligence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informed decision-making.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625328" y="1364456"/>
            <a:ext cx="1839516" cy="254736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839641" y="1650206"/>
            <a:ext cx="428625" cy="428625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6442" y="1764506"/>
            <a:ext cx="175022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39641" y="2293144"/>
            <a:ext cx="12465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839641" y="2625328"/>
            <a:ext cx="1410891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based on global financial samples, focusing on </a:t>
            </a: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profitability metrics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seasonal trends, and discount optimization.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79156" y="1364456"/>
            <a:ext cx="1839516" cy="254736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893469" y="1650206"/>
            <a:ext cx="428625" cy="42862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772" y="1764506"/>
            <a:ext cx="150019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3469" y="2293144"/>
            <a:ext cx="8929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Metric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93469" y="2625328"/>
            <a:ext cx="141089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 is defined as </a:t>
            </a: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Gross Sales minus COGS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providing a clear view of operational efficiency.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732984" y="1364456"/>
            <a:ext cx="1839516" cy="254736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947297" y="1650206"/>
            <a:ext cx="428625" cy="428625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9095" y="1764506"/>
            <a:ext cx="225028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7297" y="2293144"/>
            <a:ext cx="10197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Outcome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947297" y="2625328"/>
            <a:ext cx="1410891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of </a:t>
            </a:r>
            <a:r>
              <a:rPr lang="en-US" sz="8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high-growth segments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regional expansion opportunities to drive future revenue.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Seasonal Momentum: Q4 Drives Annual Performance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78706"/>
            <a:ext cx="5286375" cy="321468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93019"/>
            <a:ext cx="4857750" cy="2714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8688" y="4150519"/>
            <a:ext cx="6411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Volume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1855589" y="4150519"/>
            <a:ext cx="4500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143625" y="1228725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kern="0" spc="1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PEAK PERFORMANCE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143625" y="1441252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growth build-up throughout the year, culminating in a major peak during October and November.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143625" y="2244923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kern="0" spc="1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YEAR-END CYCLE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143625" y="2457450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noticeable dip in December suggests a shift in purchasing behavior post-holiday or fiscal year-end adjustments.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143625" y="3261122"/>
            <a:ext cx="2428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kern="0" spc="1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EFFICIENCY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43625" y="3473648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COGS scales proportionally with sales volume, indicating stable gross profit margins and efficient cost control.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Portfolio: Identifying Revenue Engines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78706"/>
            <a:ext cx="4772025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364456"/>
            <a:ext cx="42005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Profit Contribution by Product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91283"/>
            <a:ext cx="4200525" cy="2714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2150" y="1264444"/>
            <a:ext cx="28003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ENGINES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772150" y="1471613"/>
            <a:ext cx="28003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Montana &amp; Paseo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72150" y="1793081"/>
            <a:ext cx="28003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Consistently lead the portfolio as the primary revenue and profit generators, maintaining strong market demand across all regions.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72150" y="2756009"/>
            <a:ext cx="28003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PERFORMERS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772150" y="2963177"/>
            <a:ext cx="28003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Amarilla &amp; VTT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772150" y="3284646"/>
            <a:ext cx="28003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higher performance variability and lower overall sales contributions, requiring a strategic re-evaluation of market positioning.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Strategy: Volume vs. Tactical Pricing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07269"/>
            <a:ext cx="8001000" cy="24288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307931" y="1150144"/>
            <a:ext cx="89654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Discounts (USD)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7475934" y="1150144"/>
            <a:ext cx="8822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Discount per Unit</a:t>
            </a:r>
            <a:endParaRPr lang="en-US" sz="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26952"/>
            <a:ext cx="7572375" cy="1857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3879056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VOLUME-DRIVEN STRATEGY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" y="4138017"/>
            <a:ext cx="385762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performers like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Paseo and Montana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receive the highest total discounts. This is a consequence of high sales volume rather than deep price cuts, maintaining a healthy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stable margin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large-scale distributions.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714875" y="3879056"/>
            <a:ext cx="3857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TACTICAL INTERVENTIONS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14875" y="4138017"/>
            <a:ext cx="38576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like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VTT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exhibit high average discounts despite lower overall volume. These represent tactical moves to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stimulate demand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clear inventory for slower-moving lines without impacting the core portfolio.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Profitability by Segment: Government Leads Growth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78706"/>
            <a:ext cx="3753706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197" y="1364456"/>
            <a:ext cx="2500313" cy="2500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83997" y="4079081"/>
            <a:ext cx="11287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Profit Contribution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1883997" y="4200525"/>
            <a:ext cx="11287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$16.89M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753831" y="1078706"/>
            <a:ext cx="2130261" cy="232172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892B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SEGMENT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884091" y="1078706"/>
            <a:ext cx="871593" cy="232172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700" b="1" kern="0" spc="1" dirty="0">
                <a:solidFill>
                  <a:srgbClr val="8892B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755685" y="1078706"/>
            <a:ext cx="816815" cy="232172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700" b="1" kern="0" spc="1" dirty="0">
                <a:solidFill>
                  <a:srgbClr val="8892B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SHARE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925281" y="1421606"/>
            <a:ext cx="7715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Government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884091" y="1310878"/>
            <a:ext cx="871593" cy="38040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$11.39M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755685" y="1310878"/>
            <a:ext cx="816815" cy="38040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65.04%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925281" y="1798439"/>
            <a:ext cx="9394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Small Business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884091" y="1691283"/>
            <a:ext cx="871593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$4.14M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755685" y="1691283"/>
            <a:ext cx="816815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23.66%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925281" y="2175272"/>
            <a:ext cx="1076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Channel Partners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884091" y="2068116"/>
            <a:ext cx="871593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$1.32M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755685" y="2068116"/>
            <a:ext cx="816815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7.52%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925281" y="2552105"/>
            <a:ext cx="666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Midmarket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884091" y="2444948"/>
            <a:ext cx="871593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$0.66M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755685" y="2444948"/>
            <a:ext cx="816815" cy="376833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3.77%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753831" y="3111103"/>
            <a:ext cx="3818669" cy="934045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4753831" y="3111103"/>
            <a:ext cx="3818669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1"/>
          <p:cNvSpPr/>
          <p:nvPr/>
        </p:nvSpPr>
        <p:spPr>
          <a:xfrm>
            <a:off x="4932425" y="3289697"/>
            <a:ext cx="346148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FOCUS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932425" y="3516511"/>
            <a:ext cx="34614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Government sector remains the primary engine of profitability. Strategic efforts should focus on deepening these high-value relationships while scaling Small Business tactics.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45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Analysis: Global Profit Distribution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78706"/>
            <a:ext cx="4714875" cy="420588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93019"/>
            <a:ext cx="4286250" cy="2857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85813" y="4436269"/>
            <a:ext cx="4286250" cy="848320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785813" y="4436269"/>
            <a:ext cx="428625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4"/>
          <p:cNvSpPr/>
          <p:nvPr/>
        </p:nvSpPr>
        <p:spPr>
          <a:xfrm>
            <a:off x="964406" y="4579144"/>
            <a:ext cx="39290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INSIGHT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964406" y="4788098"/>
            <a:ext cx="392906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France and Germany lead global profitability, contributing over 7.4M combined. Replicating European sales models in North American markets presents a significant margin optimization opportunity.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715000" y="1150144"/>
            <a:ext cx="1370958" cy="232172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892B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REGION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085958" y="1150144"/>
            <a:ext cx="1486542" cy="232172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700" b="1" kern="0" spc="1" dirty="0">
                <a:solidFill>
                  <a:srgbClr val="8892B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 PROFIT (USD)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715000" y="1382316"/>
            <a:ext cx="1370958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France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85958" y="1382316"/>
            <a:ext cx="14865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$3,781,021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15000" y="1759148"/>
            <a:ext cx="1370958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Germany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085958" y="1759148"/>
            <a:ext cx="14865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$3,680,389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715000" y="2135981"/>
            <a:ext cx="1370958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Canada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085958" y="2135981"/>
            <a:ext cx="14865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$3,529,229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715000" y="2512814"/>
            <a:ext cx="1370958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085958" y="2512814"/>
            <a:ext cx="14865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$2,995,541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715000" y="2889647"/>
            <a:ext cx="1370958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Mexico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85958" y="2889647"/>
            <a:ext cx="1486542" cy="376833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$2,907,523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Recommendations: Capitalizing on Success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21581"/>
            <a:ext cx="2476509" cy="321468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21581"/>
            <a:ext cx="2476509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28763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955602"/>
            <a:ext cx="204788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8892B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SEGMENT FOCUS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85813" y="2134195"/>
            <a:ext cx="2047884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Capitalize on High-Profit Segments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5813" y="2685659"/>
            <a:ext cx="20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and Small Business sectors contribute over 88% of total profit. These segments offer the highest return on customer acquisition costs.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785813" y="3514334"/>
            <a:ext cx="2047884" cy="67687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85813" y="3514334"/>
            <a:ext cx="21431" cy="6768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8"/>
          <p:cNvSpPr/>
          <p:nvPr/>
        </p:nvSpPr>
        <p:spPr>
          <a:xfrm>
            <a:off x="892969" y="3621491"/>
            <a:ext cx="183357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Action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92969" y="3792941"/>
            <a:ext cx="172343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Intensify sales and marketing efforts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892969" y="3930458"/>
            <a:ext cx="12180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established high-return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892969" y="4067975"/>
            <a:ext cx="6322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333759" y="1221581"/>
            <a:ext cx="2476509" cy="321468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3333759" y="1221581"/>
            <a:ext cx="2476509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072" y="1528763"/>
            <a:ext cx="200025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48072" y="1955602"/>
            <a:ext cx="204788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8892B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SEASONAL OPTIMIZATION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3548072" y="2134195"/>
            <a:ext cx="2047884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Maximize Q4 Performance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48072" y="2481365"/>
            <a:ext cx="20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 shows a significant performance peak in Oct-Nov. Capitalizing on this momentum is critical for annual targets.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548072" y="3310040"/>
            <a:ext cx="2047884" cy="67687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3548072" y="3310040"/>
            <a:ext cx="21431" cy="6768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19"/>
          <p:cNvSpPr/>
          <p:nvPr/>
        </p:nvSpPr>
        <p:spPr>
          <a:xfrm>
            <a:off x="3655228" y="3417196"/>
            <a:ext cx="183357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Action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655228" y="3588646"/>
            <a:ext cx="13430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targeted promotional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3655228" y="3726163"/>
            <a:ext cx="165913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 for top-selling products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3655228" y="3863680"/>
            <a:ext cx="10036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peak demand.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6096019" y="1221581"/>
            <a:ext cx="2476509" cy="321468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6096019" y="1221581"/>
            <a:ext cx="2476509" cy="28575"/>
          </a:xfrm>
          <a:prstGeom prst="rect">
            <a:avLst/>
          </a:prstGeom>
          <a:solidFill>
            <a:srgbClr val="8892B0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31" y="1528763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310331" y="1955602"/>
            <a:ext cx="204788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8892B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STRATEGY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6310331" y="2134195"/>
            <a:ext cx="2047884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Product Portfolio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310331" y="2481365"/>
            <a:ext cx="20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Montana and Paseo drive volume, VTT requires a strategic re-evaluation due to high average discounts and lower sales volume.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310331" y="3310040"/>
            <a:ext cx="2047884" cy="67687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6310331" y="3310040"/>
            <a:ext cx="21431" cy="6768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0"/>
          <p:cNvSpPr/>
          <p:nvPr/>
        </p:nvSpPr>
        <p:spPr>
          <a:xfrm>
            <a:off x="6417487" y="3417196"/>
            <a:ext cx="183357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Action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6417487" y="3588646"/>
            <a:ext cx="148768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Re-evaluate pricing or consider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6417487" y="3726163"/>
            <a:ext cx="17645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repositioning VTT to ensure resource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6417487" y="3863680"/>
            <a:ext cx="49113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643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 Empowering Data-Driven Decisions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21581"/>
            <a:ext cx="2476509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85813" y="1507331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97" y="1600200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078831"/>
            <a:ext cx="161805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Seasonal Intelligence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5813" y="2411016"/>
            <a:ext cx="204788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clear seasonal sales, profit, and cost trends, highlighting </a:t>
            </a:r>
            <a:r>
              <a:rPr lang="en-US" sz="8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performance periods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Q4 for strategic inventory and marketing alignment.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333759" y="1221581"/>
            <a:ext cx="2476509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3548072" y="1507331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941" y="1600200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48072" y="2078831"/>
            <a:ext cx="163770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Strategic Discounting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548072" y="2411016"/>
            <a:ext cx="204788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Gained a deep understanding of the strategic application of discounts, distinguishing between </a:t>
            </a:r>
            <a:r>
              <a:rPr lang="en-US" sz="8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volume-driven growth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targeted tactical promotions.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096019" y="1221581"/>
            <a:ext cx="2476509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6310331" y="1507331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200" y="1600200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10331" y="2078831"/>
            <a:ext cx="157341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Actionable Roadmap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310331" y="2411016"/>
            <a:ext cx="2047884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Formulated clear recommendations for revenue growth by focusing on </a:t>
            </a:r>
            <a:r>
              <a:rPr lang="en-US" sz="8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high-profit segments</a:t>
            </a:r>
            <a:r>
              <a:rPr lang="en-US" sz="8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leveraging strong regional performance in global markets.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571500" y="4081983"/>
            <a:ext cx="8001000" cy="6328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4081983"/>
            <a:ext cx="8001000" cy="7144"/>
          </a:xfrm>
          <a:prstGeom prst="rect">
            <a:avLst/>
          </a:prstGeom>
          <a:solidFill>
            <a:srgbClr val="E7E9EF"/>
          </a:solidFill>
          <a:ln/>
        </p:spPr>
      </p:sp>
      <p:sp>
        <p:nvSpPr>
          <p:cNvPr id="21" name="Text 15"/>
          <p:cNvSpPr/>
          <p:nvPr/>
        </p:nvSpPr>
        <p:spPr>
          <a:xfrm>
            <a:off x="571500" y="4303440"/>
            <a:ext cx="8001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Power BI transforms raw data into </a:t>
            </a:r>
            <a:r>
              <a:rPr lang="en-US" sz="900" dirty="0">
                <a:solidFill>
                  <a:srgbClr val="10B98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clear, actionable business intelligence</a:t>
            </a: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, empowering data-driven decision-making across the organization.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300000">
            <a:off x="-914400" y="-514350"/>
            <a:ext cx="5486400" cy="6172200"/>
          </a:xfrm>
          <a:prstGeom prst="rect">
            <a:avLst/>
          </a:prstGeom>
          <a:solidFill>
            <a:srgbClr val="3B82F6">
              <a:alpha val="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059311" y="923330"/>
            <a:ext cx="3025378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3059311" y="2085975"/>
            <a:ext cx="302537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B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081591" y="2942584"/>
            <a:ext cx="3025378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6016" y="3220045"/>
            <a:ext cx="145196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Sunil Vadlakonda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465" y="3585522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90340" y="3585522"/>
            <a:ext cx="1701376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Sunil.vadlakonda@yahoo.co.uk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465" y="3803153"/>
            <a:ext cx="125016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90340" y="3799834"/>
            <a:ext cx="2716629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50" dirty="0" smtClean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www.linkedin.com/in/sunil-vadlakonda-8246a2aa</a:t>
            </a:r>
            <a:endParaRPr lang="en-US" sz="950" dirty="0">
              <a:solidFill>
                <a:srgbClr val="3B82F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669</Words>
  <Application>Microsoft Office PowerPoint</Application>
  <PresentationFormat>On-screen Show (16:9)</PresentationFormat>
  <Paragraphs>117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Sunil VK</cp:lastModifiedBy>
  <cp:revision>2</cp:revision>
  <dcterms:created xsi:type="dcterms:W3CDTF">2026-05-19T21:49:30Z</dcterms:created>
  <dcterms:modified xsi:type="dcterms:W3CDTF">2026-05-19T21:55:30Z</dcterms:modified>
</cp:coreProperties>
</file>